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89" r:id="rId2"/>
    <p:sldId id="291" r:id="rId3"/>
    <p:sldId id="296" r:id="rId4"/>
    <p:sldId id="290" r:id="rId5"/>
    <p:sldId id="297" r:id="rId6"/>
    <p:sldId id="292" r:id="rId7"/>
    <p:sldId id="295" r:id="rId8"/>
    <p:sldId id="299" r:id="rId9"/>
    <p:sldId id="298" r:id="rId10"/>
    <p:sldId id="300" r:id="rId11"/>
    <p:sldId id="301" r:id="rId1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S15" id="{B890C646-B971-4BB2-AD7D-CBC32D025B91}">
          <p14:sldIdLst>
            <p14:sldId id="289"/>
          </p14:sldIdLst>
        </p14:section>
        <p14:section name="2026/10" id="{D239BD7F-A8B2-4F3D-8EE5-755168AB280F}">
          <p14:sldIdLst>
            <p14:sldId id="291"/>
            <p14:sldId id="296"/>
            <p14:sldId id="290"/>
            <p14:sldId id="297"/>
            <p14:sldId id="292"/>
            <p14:sldId id="295"/>
            <p14:sldId id="299"/>
            <p14:sldId id="298"/>
            <p14:sldId id="300"/>
            <p14:sldId id="30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15" autoAdjust="0"/>
    <p:restoredTop sz="96458" autoAdjust="0"/>
  </p:normalViewPr>
  <p:slideViewPr>
    <p:cSldViewPr snapToGrid="0">
      <p:cViewPr varScale="1">
        <p:scale>
          <a:sx n="156" d="100"/>
          <a:sy n="156" d="100"/>
        </p:scale>
        <p:origin x="108" y="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AF9863-44D4-4FFD-884D-0D7F6BBD37E0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1605AD-D8DA-4046-85DD-DBF59EA0505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27731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1605AD-D8DA-4046-85DD-DBF59EA0505F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538045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Hs7</a:t>
            </a:r>
            <a:r>
              <a:rPr lang="zh-CN" altLang="en-US" dirty="0"/>
              <a:t>不显著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1605AD-D8DA-4046-85DD-DBF59EA0505F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51159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1605AD-D8DA-4046-85DD-DBF59EA0505F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51076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9457B1-E6E0-42D5-8400-3EF39A30D4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7CFF192-C42E-48A4-963E-7E8EE964EF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6A9379-9424-4124-B5F7-EE884ECB9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17550-FE83-4DA7-B6E8-CBE01F11E0C7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2516C38-C4BE-477F-A0ED-DCBEEC93B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4CF2B3-4BD5-4E47-86B4-D56939164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5FE0C-4937-437C-8892-1096A27C5DB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4721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094D1DB-7F3F-418D-A027-975A2F797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34336D3-5C18-48AD-813B-D1E77E259F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72375A7-E040-41C0-9018-590EE0024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17550-FE83-4DA7-B6E8-CBE01F11E0C7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686BA2F-4A9F-4793-A91F-D50148342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788F170-3E62-4A18-AF4C-B870E36A2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5FE0C-4937-437C-8892-1096A27C5DB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430847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4658731-2587-4B7D-8A9D-834D6B7D1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230B1A9-5150-49A3-AE0A-71BC90F4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6297A60-8020-4C51-BA2A-C67D0E152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17550-FE83-4DA7-B6E8-CBE01F11E0C7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E1D4154-937A-4A21-9B2A-EABA3A8A0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807159C-019F-405D-9B68-E6ADC45F7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5FE0C-4937-437C-8892-1096A27C5DB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45935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E0B1494-2B3F-48FE-8C53-057446647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8A33282-D8B6-4340-BC56-C78465532B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50774D6-5D07-40F9-B6DD-5A4A5DDCCD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728256F-DA3E-4F96-98E8-1CA52214E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17550-FE83-4DA7-B6E8-CBE01F11E0C7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C69BEC3-8373-4303-94C7-A3A13EC5A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D7C71F3-6025-4CBF-94AC-6B0590226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5FE0C-4937-437C-8892-1096A27C5DB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86544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C25E32-FC18-498A-8A44-AFD7BDBA5E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31A3C8A-F1B8-4169-B265-4030AB0754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78A404F-7CF1-405E-BAC8-E93EA55CA6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C05DC7F-AA27-4466-B7E3-96452D58C9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1127E5B-5AC7-46E1-BC1A-732357B4783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6664641-DC2A-434D-81B7-247D405E0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17550-FE83-4DA7-B6E8-CBE01F11E0C7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78E470B-59F6-446D-ACF6-8A6CB4F7D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FF7B0AF8-524B-474B-9175-B7B4AAD05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5FE0C-4937-437C-8892-1096A27C5DB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5597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D9AC95-89DB-44E9-A6A1-78D4C82A5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D7970FD-FA3A-4CC0-AD5E-68CA45CA5A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17550-FE83-4DA7-B6E8-CBE01F11E0C7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38C22EF1-733D-4C63-8B80-FD2A608F9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72F6232-2DF2-463D-847A-4E315AC2B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5FE0C-4937-437C-8892-1096A27C5DB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475140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D338596-518A-4454-97BD-87D43C35A6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17550-FE83-4DA7-B6E8-CBE01F11E0C7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C9B2AFB-1297-4758-9A45-A750D4CA8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5CADAEA-FD62-4668-9795-8EAC77A3E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5FE0C-4937-437C-8892-1096A27C5DB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49074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E42298-64B3-4587-B619-FE6059C417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CFC92FA-2920-4079-B538-8DB0F875DB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B75F653-FB6D-475C-9B2A-F24A64F24E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B6F6E88-4D1C-44D5-99F4-337D15DD2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17550-FE83-4DA7-B6E8-CBE01F11E0C7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2E2EF1D-3E30-467E-A77F-A03523668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0BACDA1-3275-432C-A501-B690682AF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5FE0C-4937-437C-8892-1096A27C5DB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3857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F08770-5EC5-4918-AEB1-13E809FE3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A921BC0-EDB2-49D3-8D72-E9A6D9EB76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CE40AED-B0A1-4AC5-81A1-A747A42AC2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F5670EA-BAC2-46EF-A428-13F18E006A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17550-FE83-4DA7-B6E8-CBE01F11E0C7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946EB1F-AC2F-4FD7-B058-47943E06F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82B92D4-7B03-4970-BE42-D52BA8699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5FE0C-4937-437C-8892-1096A27C5DB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69426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6CFAF0-D35B-4C2E-994D-A1E3DAB74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3E11127-09B1-4AB4-AD51-00C80A68ED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D866123-FC6D-4BB8-B85F-B99CAAA48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17550-FE83-4DA7-B6E8-CBE01F11E0C7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E2EAE70-D581-432A-9AA0-EBF95716F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7C220A9-6B8E-42A6-BD27-B4E955A53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5FE0C-4937-437C-8892-1096A27C5DB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35696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B031257-F9B3-4685-8500-7EC8AEBED3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5EE43E2-FDE0-4E76-B0D2-54DA3EEF4A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833EA26-57C3-424E-B2DF-33AB6ED23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17550-FE83-4DA7-B6E8-CBE01F11E0C7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0A3F92B-D4CE-45E6-AD98-3C023631A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ED4A303-E089-43CE-AB15-79A5A555C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5FE0C-4937-437C-8892-1096A27C5DB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99805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F627230-02F3-4A98-93A8-050F54E39D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21074A3-8EAE-4CA4-A420-C0F65D9D7A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76D0CDE-531E-45CA-B365-9E4A7FDA68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917550-FE83-4DA7-B6E8-CBE01F11E0C7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F518487-05A5-4032-90AA-EFDE6D642D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500119F-1C21-4952-9091-B6EAAD3312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85FE0C-4937-437C-8892-1096A27C5DB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12006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3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Relationship Id="rId14" Type="http://schemas.openxmlformats.org/officeDocument/2006/relationships/image" Target="../media/image2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5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12" Type="http://schemas.openxmlformats.org/officeDocument/2006/relationships/image" Target="../media/image3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Relationship Id="rId14" Type="http://schemas.openxmlformats.org/officeDocument/2006/relationships/image" Target="../media/image3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B697561E-AB4D-4829-8F1C-AD79F8B21F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47" y="0"/>
            <a:ext cx="4556025" cy="470213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6947ABB8-E0BB-4971-865D-34C5826DD3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1635" y="16955"/>
            <a:ext cx="4556025" cy="470213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06DFC670-1531-4873-B13B-B45BA3892A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03" y="4759548"/>
            <a:ext cx="4283517" cy="1480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1863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>
            <a:extLst>
              <a:ext uri="{FF2B5EF4-FFF2-40B4-BE49-F238E27FC236}">
                <a16:creationId xmlns:a16="http://schemas.microsoft.com/office/drawing/2014/main" id="{A1902BA0-8908-4BDF-81EB-9FA6B9475D9C}"/>
              </a:ext>
            </a:extLst>
          </p:cNvPr>
          <p:cNvSpPr txBox="1"/>
          <p:nvPr/>
        </p:nvSpPr>
        <p:spPr>
          <a:xfrm>
            <a:off x="262771" y="2437998"/>
            <a:ext cx="6273094" cy="39322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根据单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beta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频带（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13-30Hz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）功率，随时间的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Z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平均功率变化与语音振幅的相对变化进行无监督分类，预先标记的坏道被剔除在外。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黄色曲线代表语音振幅的能量包络变化，反应受试者是否处于言语（维持）状态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虚线代表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speech onset/offset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时间点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14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Fullsentence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任务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=——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患者被展示一个带有句子的幻灯片，每个句子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个汉字，然后复述该句子。每个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trial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之间的间隔时间约为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1.5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秒，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Speech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onset-offset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）持续约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秒，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cue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时间未知。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持续时间过短、过长、重复字的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trial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被剔除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进程均一化为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0%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100%</a:t>
            </a:r>
          </a:p>
          <a:p>
            <a:pPr>
              <a:lnSpc>
                <a:spcPct val="150000"/>
              </a:lnSpc>
            </a:pP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Category A——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言语（维持）状态时，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beta band power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↑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Category B——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言语（维持）状态时，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beta band power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↓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DE794812-20AC-4E38-8CDB-28E73C5C5B4D}"/>
              </a:ext>
            </a:extLst>
          </p:cNvPr>
          <p:cNvGrpSpPr/>
          <p:nvPr/>
        </p:nvGrpSpPr>
        <p:grpSpPr>
          <a:xfrm>
            <a:off x="6669860" y="3202556"/>
            <a:ext cx="2721777" cy="3307748"/>
            <a:chOff x="423443" y="3344198"/>
            <a:chExt cx="2721777" cy="3307748"/>
          </a:xfrm>
        </p:grpSpPr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0C1C2D65-3B2C-4B34-9FB7-AE3A5AFCF5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7440" y="4867775"/>
              <a:ext cx="2453785" cy="1784171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29BED9EF-4390-4EF9-B1AE-F2899D9861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23443" y="3344198"/>
              <a:ext cx="2721777" cy="1441934"/>
            </a:xfrm>
            <a:prstGeom prst="rect">
              <a:avLst/>
            </a:prstGeom>
          </p:spPr>
        </p:pic>
      </p:grp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0692B3F8-794A-4641-9633-A85B5FBB57FF}"/>
              </a:ext>
            </a:extLst>
          </p:cNvPr>
          <p:cNvGrpSpPr/>
          <p:nvPr/>
        </p:nvGrpSpPr>
        <p:grpSpPr>
          <a:xfrm>
            <a:off x="9176804" y="3202556"/>
            <a:ext cx="2882169" cy="3307747"/>
            <a:chOff x="4608887" y="3344198"/>
            <a:chExt cx="2882169" cy="3307747"/>
          </a:xfrm>
        </p:grpSpPr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BA7DC97B-3CB6-46D2-A0BF-1787AA6822C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23720" y="4867774"/>
              <a:ext cx="2667336" cy="1784171"/>
            </a:xfrm>
            <a:prstGeom prst="rect">
              <a:avLst/>
            </a:prstGeom>
          </p:spPr>
        </p:pic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B4EF878B-6C46-4ABC-A4EF-8DC06ACE593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08887" y="3344198"/>
              <a:ext cx="2829158" cy="1485582"/>
            </a:xfrm>
            <a:prstGeom prst="rect">
              <a:avLst/>
            </a:prstGeom>
          </p:spPr>
        </p:pic>
      </p:grpSp>
      <p:sp>
        <p:nvSpPr>
          <p:cNvPr id="24" name="文本框 23">
            <a:extLst>
              <a:ext uri="{FF2B5EF4-FFF2-40B4-BE49-F238E27FC236}">
                <a16:creationId xmlns:a16="http://schemas.microsoft.com/office/drawing/2014/main" id="{E25316C8-0B8D-4577-90B8-4584E00D73AA}"/>
              </a:ext>
            </a:extLst>
          </p:cNvPr>
          <p:cNvSpPr txBox="1"/>
          <p:nvPr/>
        </p:nvSpPr>
        <p:spPr>
          <a:xfrm>
            <a:off x="118061" y="85535"/>
            <a:ext cx="11940912" cy="369332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zh-CN" altLang="en-US" sz="1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一、在持续言语过程中，感觉运动皮层及周边皮层区域展现出了不同的</a:t>
            </a:r>
            <a:r>
              <a:rPr lang="en-US" altLang="zh-CN" sz="1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β</a:t>
            </a:r>
            <a:r>
              <a:rPr lang="zh-CN" altLang="en-US" sz="1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动力学状态</a:t>
            </a:r>
            <a:endParaRPr lang="en-US" altLang="zh-CN" sz="1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81B44D11-D2BA-4355-A21F-C8FBCB8FFECC}"/>
              </a:ext>
            </a:extLst>
          </p:cNvPr>
          <p:cNvSpPr txBox="1"/>
          <p:nvPr/>
        </p:nvSpPr>
        <p:spPr>
          <a:xfrm>
            <a:off x="262771" y="443850"/>
            <a:ext cx="103834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Category A——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言语（维持）状态时，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beta band power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与间歇期差别不大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Category B——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言语（维持）状态时，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beta band power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低于间歇期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speech onset/offset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前出现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ERD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，可反应言语状态改变节点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类电极的分布具备空间皮层特异性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类电极出现的皮层位置可能存在局部高功能连接的特点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24D288E0-2B82-4DE9-9EA6-9A2F2BC08B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57717" y="1512433"/>
            <a:ext cx="4871512" cy="1465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7415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786AA9A-1F34-48F4-951F-259F47837092}"/>
              </a:ext>
            </a:extLst>
          </p:cNvPr>
          <p:cNvSpPr txBox="1"/>
          <p:nvPr/>
        </p:nvSpPr>
        <p:spPr>
          <a:xfrm>
            <a:off x="118383" y="73478"/>
            <a:ext cx="158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分类示例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D3D7AE8-0A58-487D-A9F1-0F8C616948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3" y="854999"/>
            <a:ext cx="4884759" cy="2014748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D17A63F2-80F5-4268-8CA2-851FDADC0F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86" y="3118757"/>
            <a:ext cx="4327072" cy="1033801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E9103B13-861C-4BE0-8F58-F92FB5B0C2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1153" y="1299951"/>
            <a:ext cx="6813889" cy="4157873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6BF96DDF-96AF-4505-9D46-985761A88D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127" y="4554231"/>
            <a:ext cx="4344850" cy="1483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07319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图片 27">
            <a:extLst>
              <a:ext uri="{FF2B5EF4-FFF2-40B4-BE49-F238E27FC236}">
                <a16:creationId xmlns:a16="http://schemas.microsoft.com/office/drawing/2014/main" id="{0623701E-6339-47D7-A91A-F1398E6621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4171" y="4498313"/>
            <a:ext cx="3036677" cy="2372338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019655A5-442A-4EFE-B611-64DC6F564C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801" y="722540"/>
            <a:ext cx="2761538" cy="1904216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3F20D53E-037A-47F4-A6B9-8BFBEA9ED5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4801" y="2535977"/>
            <a:ext cx="2812531" cy="2218747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EA79BCA8-57A4-4D46-ACC5-6BB6856B40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1991" y="4584246"/>
            <a:ext cx="2741459" cy="2041071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B99131BD-57E1-4C96-A974-B9EC3C9ACF96}"/>
              </a:ext>
            </a:extLst>
          </p:cNvPr>
          <p:cNvSpPr txBox="1"/>
          <p:nvPr/>
        </p:nvSpPr>
        <p:spPr>
          <a:xfrm>
            <a:off x="1122588" y="232683"/>
            <a:ext cx="19471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HS006</a:t>
            </a:r>
            <a:endParaRPr lang="zh-CN" altLang="en-US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DD2B1A3-CA2D-4F32-BC03-DFB4523E7FA8}"/>
              </a:ext>
            </a:extLst>
          </p:cNvPr>
          <p:cNvSpPr txBox="1"/>
          <p:nvPr/>
        </p:nvSpPr>
        <p:spPr>
          <a:xfrm>
            <a:off x="4065326" y="232683"/>
            <a:ext cx="19471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HS012</a:t>
            </a:r>
            <a:endParaRPr lang="zh-CN" altLang="en-US" dirty="0"/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67FA9174-D76D-4B22-AC02-8DB338CE48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5211" y="722540"/>
            <a:ext cx="2435849" cy="1904216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13DC865D-6429-422F-B8C5-F70DAC34810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82451" y="2640557"/>
            <a:ext cx="2877510" cy="2009589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272853D8-2301-42CF-90D3-B45A3B98DC4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01248" y="4663947"/>
            <a:ext cx="2643774" cy="2041071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6F667B76-97E4-47BA-BF51-85FB51FDFE3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51376" y="660133"/>
            <a:ext cx="2717083" cy="2156545"/>
          </a:xfrm>
          <a:prstGeom prst="rect">
            <a:avLst/>
          </a:prstGeom>
        </p:spPr>
      </p:pic>
      <p:sp>
        <p:nvSpPr>
          <p:cNvPr id="24" name="文本框 23">
            <a:extLst>
              <a:ext uri="{FF2B5EF4-FFF2-40B4-BE49-F238E27FC236}">
                <a16:creationId xmlns:a16="http://schemas.microsoft.com/office/drawing/2014/main" id="{125DFDDC-E595-4C14-993B-222F7870CEEA}"/>
              </a:ext>
            </a:extLst>
          </p:cNvPr>
          <p:cNvSpPr txBox="1"/>
          <p:nvPr/>
        </p:nvSpPr>
        <p:spPr>
          <a:xfrm>
            <a:off x="7013373" y="265340"/>
            <a:ext cx="19471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HS013</a:t>
            </a:r>
            <a:endParaRPr lang="zh-CN" altLang="en-US" dirty="0"/>
          </a:p>
        </p:txBody>
      </p:sp>
      <p:pic>
        <p:nvPicPr>
          <p:cNvPr id="26" name="图片 25">
            <a:extLst>
              <a:ext uri="{FF2B5EF4-FFF2-40B4-BE49-F238E27FC236}">
                <a16:creationId xmlns:a16="http://schemas.microsoft.com/office/drawing/2014/main" id="{A8A8E0A9-165B-4CFD-AEC0-280B3C9EF5F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02389" y="2658714"/>
            <a:ext cx="2877511" cy="2097566"/>
          </a:xfrm>
          <a:prstGeom prst="rect">
            <a:avLst/>
          </a:prstGeom>
        </p:spPr>
      </p:pic>
      <p:sp>
        <p:nvSpPr>
          <p:cNvPr id="29" name="文本框 28">
            <a:extLst>
              <a:ext uri="{FF2B5EF4-FFF2-40B4-BE49-F238E27FC236}">
                <a16:creationId xmlns:a16="http://schemas.microsoft.com/office/drawing/2014/main" id="{11EDF169-0B70-4DA1-84F1-E624A645F6B8}"/>
              </a:ext>
            </a:extLst>
          </p:cNvPr>
          <p:cNvSpPr txBox="1"/>
          <p:nvPr/>
        </p:nvSpPr>
        <p:spPr>
          <a:xfrm>
            <a:off x="10170230" y="233653"/>
            <a:ext cx="19471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HS015</a:t>
            </a:r>
            <a:endParaRPr lang="zh-CN" altLang="en-US" dirty="0"/>
          </a:p>
        </p:txBody>
      </p:sp>
      <p:pic>
        <p:nvPicPr>
          <p:cNvPr id="31" name="图片 30">
            <a:extLst>
              <a:ext uri="{FF2B5EF4-FFF2-40B4-BE49-F238E27FC236}">
                <a16:creationId xmlns:a16="http://schemas.microsoft.com/office/drawing/2014/main" id="{128A8B9D-849C-4066-B040-CF7D3C34808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27941" y="685698"/>
            <a:ext cx="2619258" cy="1977899"/>
          </a:xfrm>
          <a:prstGeom prst="rect">
            <a:avLst/>
          </a:prstGeom>
        </p:spPr>
      </p:pic>
      <p:pic>
        <p:nvPicPr>
          <p:cNvPr id="33" name="图片 32">
            <a:extLst>
              <a:ext uri="{FF2B5EF4-FFF2-40B4-BE49-F238E27FC236}">
                <a16:creationId xmlns:a16="http://schemas.microsoft.com/office/drawing/2014/main" id="{1A558B5E-DF3C-4D59-821D-6D6F1CAD457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132710" y="2669596"/>
            <a:ext cx="2958078" cy="2028949"/>
          </a:xfrm>
          <a:prstGeom prst="rect">
            <a:avLst/>
          </a:prstGeom>
        </p:spPr>
      </p:pic>
      <p:pic>
        <p:nvPicPr>
          <p:cNvPr id="35" name="图片 34">
            <a:extLst>
              <a:ext uri="{FF2B5EF4-FFF2-40B4-BE49-F238E27FC236}">
                <a16:creationId xmlns:a16="http://schemas.microsoft.com/office/drawing/2014/main" id="{43093473-027B-4978-8F1A-EC5DBC9251A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57875" y="4815647"/>
            <a:ext cx="2632349" cy="1949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0929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文本框 13">
            <a:extLst>
              <a:ext uri="{FF2B5EF4-FFF2-40B4-BE49-F238E27FC236}">
                <a16:creationId xmlns:a16="http://schemas.microsoft.com/office/drawing/2014/main" id="{B99131BD-57E1-4C96-A974-B9EC3C9ACF96}"/>
              </a:ext>
            </a:extLst>
          </p:cNvPr>
          <p:cNvSpPr txBox="1"/>
          <p:nvPr/>
        </p:nvSpPr>
        <p:spPr>
          <a:xfrm>
            <a:off x="1122588" y="232683"/>
            <a:ext cx="19471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HS005</a:t>
            </a:r>
            <a:endParaRPr lang="zh-CN" altLang="en-US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DD2B1A3-CA2D-4F32-BC03-DFB4523E7FA8}"/>
              </a:ext>
            </a:extLst>
          </p:cNvPr>
          <p:cNvSpPr txBox="1"/>
          <p:nvPr/>
        </p:nvSpPr>
        <p:spPr>
          <a:xfrm>
            <a:off x="4065326" y="232683"/>
            <a:ext cx="19471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HS007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125DFDDC-E595-4C14-993B-222F7870CEEA}"/>
              </a:ext>
            </a:extLst>
          </p:cNvPr>
          <p:cNvSpPr txBox="1"/>
          <p:nvPr/>
        </p:nvSpPr>
        <p:spPr>
          <a:xfrm>
            <a:off x="7013373" y="265340"/>
            <a:ext cx="19471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HS016</a:t>
            </a:r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11EDF169-0B70-4DA1-84F1-E624A645F6B8}"/>
              </a:ext>
            </a:extLst>
          </p:cNvPr>
          <p:cNvSpPr txBox="1"/>
          <p:nvPr/>
        </p:nvSpPr>
        <p:spPr>
          <a:xfrm>
            <a:off x="10170230" y="233653"/>
            <a:ext cx="19471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HS023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E88F452-7AEC-4160-93F3-39154AEC7E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895" y="687994"/>
            <a:ext cx="2463135" cy="176129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CACA225-6693-426F-9763-CC2D24A1DA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3157" y="2535444"/>
            <a:ext cx="2290793" cy="1787112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A9F01B24-30FF-43A7-8099-D8DF7F28F2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055" y="4498340"/>
            <a:ext cx="2552301" cy="2146032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22EC4714-0C47-4E22-8117-BFF0D07E26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3274" y="803876"/>
            <a:ext cx="2668759" cy="1869061"/>
          </a:xfrm>
          <a:prstGeom prst="rect">
            <a:avLst/>
          </a:prstGeom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F5D5E0A7-FD47-4108-9732-AED8F5574A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2770" y="2640151"/>
            <a:ext cx="2655590" cy="1843216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2309203C-7B27-42EA-8D3C-9D712B6BA5D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1330" y="4601750"/>
            <a:ext cx="2365674" cy="1858046"/>
          </a:xfrm>
          <a:prstGeom prst="rect">
            <a:avLst/>
          </a:prstGeom>
        </p:spPr>
      </p:pic>
      <p:pic>
        <p:nvPicPr>
          <p:cNvPr id="27" name="图片 26">
            <a:extLst>
              <a:ext uri="{FF2B5EF4-FFF2-40B4-BE49-F238E27FC236}">
                <a16:creationId xmlns:a16="http://schemas.microsoft.com/office/drawing/2014/main" id="{783D0E7B-02B5-435C-9097-D87F3965E35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02454" y="800589"/>
            <a:ext cx="2502568" cy="1734855"/>
          </a:xfrm>
          <a:prstGeom prst="rect">
            <a:avLst/>
          </a:prstGeom>
        </p:spPr>
      </p:pic>
      <p:pic>
        <p:nvPicPr>
          <p:cNvPr id="38" name="图片 37">
            <a:extLst>
              <a:ext uri="{FF2B5EF4-FFF2-40B4-BE49-F238E27FC236}">
                <a16:creationId xmlns:a16="http://schemas.microsoft.com/office/drawing/2014/main" id="{E5CDAF76-0F60-46BC-AD36-E053E689CEE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48051" y="2640151"/>
            <a:ext cx="2290793" cy="1858189"/>
          </a:xfrm>
          <a:prstGeom prst="rect">
            <a:avLst/>
          </a:prstGeom>
        </p:spPr>
      </p:pic>
      <p:pic>
        <p:nvPicPr>
          <p:cNvPr id="42" name="图片 41">
            <a:extLst>
              <a:ext uri="{FF2B5EF4-FFF2-40B4-BE49-F238E27FC236}">
                <a16:creationId xmlns:a16="http://schemas.microsoft.com/office/drawing/2014/main" id="{592D12E5-AD47-462C-8BDB-5DC3042B58E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509939" y="4583198"/>
            <a:ext cx="2502569" cy="1895150"/>
          </a:xfrm>
          <a:prstGeom prst="rect">
            <a:avLst/>
          </a:prstGeom>
        </p:spPr>
      </p:pic>
      <p:pic>
        <p:nvPicPr>
          <p:cNvPr id="44" name="图片 43">
            <a:extLst>
              <a:ext uri="{FF2B5EF4-FFF2-40B4-BE49-F238E27FC236}">
                <a16:creationId xmlns:a16="http://schemas.microsoft.com/office/drawing/2014/main" id="{3675870A-FAE0-4D91-B752-19B0A0A718D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475204" y="634672"/>
            <a:ext cx="2423522" cy="1853461"/>
          </a:xfrm>
          <a:prstGeom prst="rect">
            <a:avLst/>
          </a:prstGeom>
        </p:spPr>
      </p:pic>
      <p:pic>
        <p:nvPicPr>
          <p:cNvPr id="46" name="图片 45">
            <a:extLst>
              <a:ext uri="{FF2B5EF4-FFF2-40B4-BE49-F238E27FC236}">
                <a16:creationId xmlns:a16="http://schemas.microsoft.com/office/drawing/2014/main" id="{617FF04C-1FEE-4B5E-AACA-537CA099089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41568" y="2566023"/>
            <a:ext cx="2290793" cy="1917344"/>
          </a:xfrm>
          <a:prstGeom prst="rect">
            <a:avLst/>
          </a:prstGeom>
        </p:spPr>
      </p:pic>
      <p:pic>
        <p:nvPicPr>
          <p:cNvPr id="48" name="图片 47">
            <a:extLst>
              <a:ext uri="{FF2B5EF4-FFF2-40B4-BE49-F238E27FC236}">
                <a16:creationId xmlns:a16="http://schemas.microsoft.com/office/drawing/2014/main" id="{2695930E-587C-446B-8157-279A65DD14E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410813" y="4632763"/>
            <a:ext cx="2552301" cy="2011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1470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8319B80-1EA9-4222-9452-2BD8F328A2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38" y="522532"/>
            <a:ext cx="2258614" cy="5295839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977D95D7-7E1B-4CF3-98F5-F1F4E03DE3D9}"/>
              </a:ext>
            </a:extLst>
          </p:cNvPr>
          <p:cNvSpPr txBox="1"/>
          <p:nvPr/>
        </p:nvSpPr>
        <p:spPr>
          <a:xfrm>
            <a:off x="0" y="0"/>
            <a:ext cx="6811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与</a:t>
            </a:r>
            <a:r>
              <a:rPr lang="en-US" altLang="zh-CN" dirty="0"/>
              <a:t>speech onset</a:t>
            </a:r>
            <a:r>
              <a:rPr lang="zh-CN" altLang="en-US" dirty="0"/>
              <a:t>前后，局部连接强度相关</a:t>
            </a: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9A5840F0-83AF-4F10-BC04-D3A1FE89079D}"/>
              </a:ext>
            </a:extLst>
          </p:cNvPr>
          <p:cNvGrpSpPr/>
          <p:nvPr/>
        </p:nvGrpSpPr>
        <p:grpSpPr>
          <a:xfrm>
            <a:off x="2181696" y="611650"/>
            <a:ext cx="9758560" cy="5448942"/>
            <a:chOff x="2181696" y="611650"/>
            <a:chExt cx="9758560" cy="5448942"/>
          </a:xfrm>
        </p:grpSpPr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F85DAEDA-80DC-4342-867A-E99BC3A512F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81696" y="611650"/>
              <a:ext cx="9758560" cy="5448942"/>
            </a:xfrm>
            <a:prstGeom prst="rect">
              <a:avLst/>
            </a:prstGeom>
          </p:spPr>
        </p:pic>
        <p:pic>
          <p:nvPicPr>
            <p:cNvPr id="12" name="图片 11">
              <a:extLst>
                <a:ext uri="{FF2B5EF4-FFF2-40B4-BE49-F238E27FC236}">
                  <a16:creationId xmlns:a16="http://schemas.microsoft.com/office/drawing/2014/main" id="{4D15EB56-FE53-49A1-B227-9E7B3286002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181696" y="2962745"/>
              <a:ext cx="3070858" cy="2307302"/>
            </a:xfrm>
            <a:prstGeom prst="rect">
              <a:avLst/>
            </a:prstGeom>
          </p:spPr>
        </p:pic>
        <p:sp>
          <p:nvSpPr>
            <p:cNvPr id="10" name="箭头: 右 9">
              <a:extLst>
                <a:ext uri="{FF2B5EF4-FFF2-40B4-BE49-F238E27FC236}">
                  <a16:creationId xmlns:a16="http://schemas.microsoft.com/office/drawing/2014/main" id="{5EF8843A-7946-4005-8B28-97BBD19CAF6F}"/>
                </a:ext>
              </a:extLst>
            </p:cNvPr>
            <p:cNvSpPr/>
            <p:nvPr/>
          </p:nvSpPr>
          <p:spPr>
            <a:xfrm rot="8759996">
              <a:off x="4008667" y="3096778"/>
              <a:ext cx="714375" cy="338818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420892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09D6A7E1-BF63-4A14-84BC-BFF17282A5DE}"/>
              </a:ext>
            </a:extLst>
          </p:cNvPr>
          <p:cNvGrpSpPr/>
          <p:nvPr/>
        </p:nvGrpSpPr>
        <p:grpSpPr>
          <a:xfrm>
            <a:off x="206286" y="1114426"/>
            <a:ext cx="5255622" cy="4120822"/>
            <a:chOff x="300174" y="620487"/>
            <a:chExt cx="7613707" cy="5753678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EFE291DC-0F37-4918-91B6-C386047780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41171" y="1774794"/>
              <a:ext cx="5072710" cy="3644047"/>
            </a:xfrm>
            <a:prstGeom prst="rect">
              <a:avLst/>
            </a:prstGeom>
          </p:spPr>
        </p:pic>
        <p:sp>
          <p:nvSpPr>
            <p:cNvPr id="8" name="箭头: 右 7">
              <a:extLst>
                <a:ext uri="{FF2B5EF4-FFF2-40B4-BE49-F238E27FC236}">
                  <a16:creationId xmlns:a16="http://schemas.microsoft.com/office/drawing/2014/main" id="{54416E2D-B262-4EBB-926F-A65E94764CA7}"/>
                </a:ext>
              </a:extLst>
            </p:cNvPr>
            <p:cNvSpPr/>
            <p:nvPr/>
          </p:nvSpPr>
          <p:spPr>
            <a:xfrm rot="8759996">
              <a:off x="5649649" y="2360178"/>
              <a:ext cx="714375" cy="338818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038679F8-6A8C-408C-A8E6-B6A4CE631F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0174" y="620487"/>
              <a:ext cx="2441168" cy="5753678"/>
            </a:xfrm>
            <a:prstGeom prst="rect">
              <a:avLst/>
            </a:prstGeom>
          </p:spPr>
        </p:pic>
      </p:grpSp>
      <p:sp>
        <p:nvSpPr>
          <p:cNvPr id="12" name="文本框 11">
            <a:extLst>
              <a:ext uri="{FF2B5EF4-FFF2-40B4-BE49-F238E27FC236}">
                <a16:creationId xmlns:a16="http://schemas.microsoft.com/office/drawing/2014/main" id="{D28FDA3E-3ABB-4F67-BD14-3FD71DDDB740}"/>
              </a:ext>
            </a:extLst>
          </p:cNvPr>
          <p:cNvSpPr txBox="1"/>
          <p:nvPr/>
        </p:nvSpPr>
        <p:spPr>
          <a:xfrm>
            <a:off x="0" y="0"/>
            <a:ext cx="6811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与</a:t>
            </a:r>
            <a:r>
              <a:rPr lang="en-US" altLang="zh-CN" dirty="0"/>
              <a:t>speech onset</a:t>
            </a:r>
            <a:r>
              <a:rPr lang="zh-CN" altLang="en-US" dirty="0"/>
              <a:t>前后，局部连接强度相关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FC4D22B8-1874-4734-BBE4-DB78E92EE0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212861"/>
            <a:ext cx="5423807" cy="4197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44466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3A59E44E-F264-488C-B72B-6EC1E16DD64C}"/>
              </a:ext>
            </a:extLst>
          </p:cNvPr>
          <p:cNvSpPr txBox="1"/>
          <p:nvPr/>
        </p:nvSpPr>
        <p:spPr>
          <a:xfrm>
            <a:off x="136985" y="55340"/>
            <a:ext cx="60966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Consolas" panose="020B0609020204030204" pitchFamily="49" charset="0"/>
              </a:rPr>
              <a:t>"HS0012": ["B01", "B03", "B02", "B05"],</a:t>
            </a:r>
          </a:p>
          <a:p>
            <a:r>
              <a:rPr lang="en-US" altLang="zh-CN" b="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Consolas" panose="020B0609020204030204" pitchFamily="49" charset="0"/>
              </a:rPr>
              <a:t>"HS0006": ["B07", "B08", "B09"],</a:t>
            </a:r>
          </a:p>
          <a:p>
            <a:r>
              <a:rPr lang="en-US" altLang="zh-CN" b="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Consolas" panose="020B0609020204030204" pitchFamily="49" charset="0"/>
              </a:rPr>
              <a:t>"HS0013": ["B01", "B03", "B02", "B05"],</a:t>
            </a:r>
          </a:p>
          <a:p>
            <a:r>
              <a:rPr lang="en-US" altLang="zh-CN" b="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Consolas" panose="020B0609020204030204" pitchFamily="49" charset="0"/>
              </a:rPr>
              <a:t>"HS0015": ["B03", "B04", "B05", "B06"],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D1F23BB5-CB71-4A8A-84FC-9207E073B1C9}"/>
              </a:ext>
            </a:extLst>
          </p:cNvPr>
          <p:cNvSpPr txBox="1"/>
          <p:nvPr/>
        </p:nvSpPr>
        <p:spPr>
          <a:xfrm>
            <a:off x="6340089" y="1166679"/>
            <a:ext cx="4665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4</a:t>
            </a:r>
            <a:r>
              <a:rPr lang="zh-CN" altLang="en-US" dirty="0"/>
              <a:t>个被试，</a:t>
            </a:r>
            <a:r>
              <a:rPr lang="en-US" altLang="zh-CN" dirty="0"/>
              <a:t>15</a:t>
            </a:r>
            <a:r>
              <a:rPr lang="zh-CN" altLang="en-US" dirty="0"/>
              <a:t>个</a:t>
            </a:r>
            <a:r>
              <a:rPr lang="en-US" altLang="zh-CN" dirty="0"/>
              <a:t>Block</a:t>
            </a:r>
            <a:r>
              <a:rPr lang="zh-CN" altLang="en-US" dirty="0"/>
              <a:t>，</a:t>
            </a:r>
            <a:r>
              <a:rPr lang="en-US" altLang="zh-CN" dirty="0"/>
              <a:t>2136</a:t>
            </a:r>
            <a:r>
              <a:rPr lang="zh-CN" altLang="en-US" dirty="0"/>
              <a:t>个有效</a:t>
            </a:r>
            <a:r>
              <a:rPr lang="en-US" altLang="zh-CN" dirty="0"/>
              <a:t>channel</a:t>
            </a:r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645957B-AD3B-4AE3-AE80-E7246CBD5D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1496" y="91509"/>
            <a:ext cx="6463077" cy="112799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05757B14-C757-4002-AEE3-26E84BE0CA59}"/>
              </a:ext>
            </a:extLst>
          </p:cNvPr>
          <p:cNvSpPr txBox="1"/>
          <p:nvPr/>
        </p:nvSpPr>
        <p:spPr>
          <a:xfrm>
            <a:off x="136985" y="4246587"/>
            <a:ext cx="32267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依次去掉</a:t>
            </a:r>
            <a:r>
              <a:rPr lang="en-US" altLang="zh-CN" dirty="0"/>
              <a:t>1</a:t>
            </a:r>
            <a:r>
              <a:rPr lang="zh-CN" altLang="en-US" dirty="0"/>
              <a:t>个被试，分类结果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32A0F509-BDC6-4D49-9A59-9BC9B245B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8010" y="1734495"/>
            <a:ext cx="6860721" cy="119739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382BDF51-2C44-4DB6-BBE2-4A06BFB6E4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8009" y="2931885"/>
            <a:ext cx="6860721" cy="1197390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3D1A59D4-F723-4C9C-9581-F686D7C54B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09975" y="4047418"/>
            <a:ext cx="7086600" cy="1236812"/>
          </a:xfrm>
          <a:prstGeom prst="rect">
            <a:avLst/>
          </a:prstGeom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2E8471AC-D2BD-4C87-AFB5-BC9A0FC20D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318" y="5370639"/>
            <a:ext cx="7183211" cy="1253674"/>
          </a:xfrm>
          <a:prstGeom prst="rect">
            <a:avLst/>
          </a:prstGeom>
        </p:spPr>
      </p:pic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D4C9B740-35BF-460B-B15F-4EE25D525DA8}"/>
              </a:ext>
            </a:extLst>
          </p:cNvPr>
          <p:cNvCxnSpPr>
            <a:cxnSpLocks/>
          </p:cNvCxnSpPr>
          <p:nvPr/>
        </p:nvCxnSpPr>
        <p:spPr>
          <a:xfrm flipV="1">
            <a:off x="0" y="1573770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80345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0E00589-1BD9-4657-B9D0-8EF71AE3FA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04" y="1363434"/>
            <a:ext cx="5333320" cy="1472853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54AD9F02-2264-43B4-8609-53C5B16843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4941" y="1130751"/>
            <a:ext cx="2575993" cy="5200652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282162C1-B2C0-4BDF-8AC6-E2B2283E6D7E}"/>
              </a:ext>
            </a:extLst>
          </p:cNvPr>
          <p:cNvSpPr txBox="1"/>
          <p:nvPr/>
        </p:nvSpPr>
        <p:spPr>
          <a:xfrm>
            <a:off x="118061" y="85535"/>
            <a:ext cx="11940912" cy="64633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zh-CN" altLang="en-US" sz="1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二、在独立的 </a:t>
            </a:r>
            <a:r>
              <a:rPr lang="en-US" altLang="zh-CN" sz="1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Tone repetition task </a:t>
            </a:r>
            <a:r>
              <a:rPr lang="zh-CN" altLang="en-US" sz="1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中，可识别出一类具有 </a:t>
            </a:r>
            <a:r>
              <a:rPr lang="en-US" altLang="zh-CN" sz="1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Beta</a:t>
            </a:r>
            <a:r>
              <a:rPr lang="zh-CN" altLang="en-US" sz="1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调制音频的电极。与 </a:t>
            </a:r>
            <a:r>
              <a:rPr lang="en-US" altLang="zh-CN" sz="1800" b="1" dirty="0" err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Fullsentence</a:t>
            </a:r>
            <a:r>
              <a:rPr lang="en-US" altLang="zh-CN" sz="1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任务中表现出 </a:t>
            </a:r>
            <a:r>
              <a:rPr lang="en-US" altLang="zh-CN" sz="1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speech-onset ERD </a:t>
            </a:r>
            <a:r>
              <a:rPr lang="zh-CN" altLang="en-US" sz="1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后回升的电极相比，空间位置呈现明显的邻近趋势。</a:t>
            </a:r>
            <a:endParaRPr lang="en-US" altLang="zh-CN" sz="1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00B1DCC-8307-4F57-9FD3-C3BB091023C5}"/>
              </a:ext>
            </a:extLst>
          </p:cNvPr>
          <p:cNvSpPr/>
          <p:nvPr/>
        </p:nvSpPr>
        <p:spPr>
          <a:xfrm>
            <a:off x="2130878" y="1363434"/>
            <a:ext cx="1355271" cy="132669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CFF9F39B-6AEE-44C5-9439-5280DBEE34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4196" y="3118757"/>
            <a:ext cx="3681942" cy="3212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37905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EA350148-DCAF-4DC6-9225-0D1B196958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005" y="2698296"/>
            <a:ext cx="4597306" cy="3429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CB636F9-9031-4ADD-929F-856AD6B601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587" y="1066305"/>
            <a:ext cx="5406996" cy="1493199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242D76BD-D380-47BF-AB34-CDCFA854691D}"/>
              </a:ext>
            </a:extLst>
          </p:cNvPr>
          <p:cNvSpPr/>
          <p:nvPr/>
        </p:nvSpPr>
        <p:spPr>
          <a:xfrm>
            <a:off x="4082144" y="1126669"/>
            <a:ext cx="1355271" cy="132669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1699894D-7820-47D4-AB72-58FA470EF8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8094" y="364668"/>
            <a:ext cx="2511312" cy="6128663"/>
          </a:xfrm>
          <a:prstGeom prst="rect">
            <a:avLst/>
          </a:prstGeom>
        </p:spPr>
      </p:pic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5C167F64-73E1-4B75-81AD-AA99B4B51271}"/>
              </a:ext>
            </a:extLst>
          </p:cNvPr>
          <p:cNvSpPr/>
          <p:nvPr/>
        </p:nvSpPr>
        <p:spPr>
          <a:xfrm>
            <a:off x="8628289" y="632732"/>
            <a:ext cx="3267075" cy="571500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缺少更多合适的样本</a:t>
            </a:r>
            <a:r>
              <a:rPr lang="zh-CN" alt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br>
              <a:rPr lang="en-US" altLang="zh-CN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需要寻找</a:t>
            </a:r>
            <a:r>
              <a:rPr lang="en-US" altLang="zh-CN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——5</a:t>
            </a:r>
            <a:r>
              <a:rPr lang="zh-CN" alt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次复述</a:t>
            </a:r>
            <a:r>
              <a:rPr lang="en-US" altLang="zh-CN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tone</a:t>
            </a:r>
            <a:r>
              <a:rPr lang="zh-CN" alt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以及</a:t>
            </a:r>
            <a:r>
              <a:rPr lang="en-US" altLang="zh-CN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次复述</a:t>
            </a:r>
            <a:r>
              <a:rPr lang="en-US" altLang="zh-CN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tone</a:t>
            </a:r>
            <a:r>
              <a:rPr lang="zh-CN" alt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被试；</a:t>
            </a:r>
            <a:endParaRPr lang="en-US" altLang="zh-CN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r>
              <a:rPr lang="zh-CN" alt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次复述</a:t>
            </a:r>
            <a:r>
              <a:rPr lang="en-US" altLang="zh-CN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——</a:t>
            </a:r>
            <a:r>
              <a:rPr lang="zh-CN" alt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未见</a:t>
            </a:r>
            <a:r>
              <a:rPr lang="en-US" altLang="zh-CN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tone-tone</a:t>
            </a:r>
            <a:r>
              <a:rPr lang="zh-CN" alt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发音间隔期的</a:t>
            </a:r>
            <a:r>
              <a:rPr lang="en-US" altLang="zh-CN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beta</a:t>
            </a:r>
            <a:r>
              <a:rPr lang="zh-CN" alt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↑</a:t>
            </a:r>
            <a:endParaRPr lang="en-US" altLang="zh-CN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次复述</a:t>
            </a:r>
            <a:r>
              <a:rPr lang="en-US" altLang="zh-CN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——</a:t>
            </a:r>
            <a:r>
              <a:rPr lang="zh-CN" alt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可见</a:t>
            </a:r>
            <a:r>
              <a:rPr lang="en-US" altLang="zh-CN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tone-tone</a:t>
            </a:r>
            <a:r>
              <a:rPr lang="zh-CN" alt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发音间隔期的</a:t>
            </a:r>
            <a:r>
              <a:rPr lang="en-US" altLang="zh-CN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beta</a:t>
            </a:r>
            <a:r>
              <a:rPr lang="zh-CN" alt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↑</a:t>
            </a:r>
            <a:endParaRPr lang="en-US" altLang="zh-CN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是否表示在</a:t>
            </a:r>
            <a:r>
              <a:rPr lang="en-US" altLang="zh-CN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Fu</a:t>
            </a:r>
            <a:r>
              <a:rPr lang="zh-CN" alt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任务中，其实显示的句中反弹只是来源于音频</a:t>
            </a:r>
            <a:r>
              <a:rPr lang="en-US" altLang="zh-CN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switch</a:t>
            </a:r>
            <a:r>
              <a:rPr lang="zh-CN" alt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的改变，但如何解释一致维持低的</a:t>
            </a:r>
            <a:r>
              <a:rPr lang="en-US" altLang="zh-CN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channel</a:t>
            </a:r>
            <a:r>
              <a:rPr lang="zh-CN" alt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？</a:t>
            </a:r>
            <a:endParaRPr lang="en-US" altLang="zh-CN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CN" altLang="en-US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472917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>
            <a:extLst>
              <a:ext uri="{FF2B5EF4-FFF2-40B4-BE49-F238E27FC236}">
                <a16:creationId xmlns:a16="http://schemas.microsoft.com/office/drawing/2014/main" id="{A1902BA0-8908-4BDF-81EB-9FA6B9475D9C}"/>
              </a:ext>
            </a:extLst>
          </p:cNvPr>
          <p:cNvSpPr txBox="1"/>
          <p:nvPr/>
        </p:nvSpPr>
        <p:spPr>
          <a:xfrm>
            <a:off x="262771" y="2437998"/>
            <a:ext cx="6273094" cy="39322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根据单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beta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频带（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13-30Hz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）功率，随时间的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Z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平均功率变化与语音振幅的相对变化进行无监督分类，预先标记的坏道被剔除在外。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黄色曲线代表语音振幅的能量包络变化，反应受试者是否处于言语（维持）状态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虚线代表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speech onset/offset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时间点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14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Fullsentence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任务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=——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患者被展示一个带有句子的幻灯片，每个句子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个汉字，然后复述该句子。每个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trial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之间的间隔时间约为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1.5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秒，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Speech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onset-offset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）持续约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秒，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cue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时间未知。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持续时间过短、过长、重复字的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trial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被剔除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进程均一化为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0%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100%</a:t>
            </a:r>
          </a:p>
          <a:p>
            <a:pPr>
              <a:lnSpc>
                <a:spcPct val="150000"/>
              </a:lnSpc>
            </a:pP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Category A——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言语（维持）状态时，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beta band power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↑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Category B——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言语（维持）状态时，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beta band power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↓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DE794812-20AC-4E38-8CDB-28E73C5C5B4D}"/>
              </a:ext>
            </a:extLst>
          </p:cNvPr>
          <p:cNvGrpSpPr/>
          <p:nvPr/>
        </p:nvGrpSpPr>
        <p:grpSpPr>
          <a:xfrm>
            <a:off x="6669860" y="3202556"/>
            <a:ext cx="2721777" cy="3307748"/>
            <a:chOff x="423443" y="3344198"/>
            <a:chExt cx="2721777" cy="3307748"/>
          </a:xfrm>
        </p:grpSpPr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0C1C2D65-3B2C-4B34-9FB7-AE3A5AFCF5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7440" y="4867775"/>
              <a:ext cx="2453785" cy="1784171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29BED9EF-4390-4EF9-B1AE-F2899D9861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23443" y="3344198"/>
              <a:ext cx="2721777" cy="1441934"/>
            </a:xfrm>
            <a:prstGeom prst="rect">
              <a:avLst/>
            </a:prstGeom>
          </p:spPr>
        </p:pic>
      </p:grp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0692B3F8-794A-4641-9633-A85B5FBB57FF}"/>
              </a:ext>
            </a:extLst>
          </p:cNvPr>
          <p:cNvGrpSpPr/>
          <p:nvPr/>
        </p:nvGrpSpPr>
        <p:grpSpPr>
          <a:xfrm>
            <a:off x="9176804" y="3202556"/>
            <a:ext cx="2882169" cy="3307747"/>
            <a:chOff x="4608887" y="3344198"/>
            <a:chExt cx="2882169" cy="3307747"/>
          </a:xfrm>
        </p:grpSpPr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BA7DC97B-3CB6-46D2-A0BF-1787AA6822C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23720" y="4867774"/>
              <a:ext cx="2667336" cy="1784171"/>
            </a:xfrm>
            <a:prstGeom prst="rect">
              <a:avLst/>
            </a:prstGeom>
          </p:spPr>
        </p:pic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B4EF878B-6C46-4ABC-A4EF-8DC06ACE593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08887" y="3344198"/>
              <a:ext cx="2829158" cy="1485582"/>
            </a:xfrm>
            <a:prstGeom prst="rect">
              <a:avLst/>
            </a:prstGeom>
          </p:spPr>
        </p:pic>
      </p:grpSp>
      <p:sp>
        <p:nvSpPr>
          <p:cNvPr id="24" name="文本框 23">
            <a:extLst>
              <a:ext uri="{FF2B5EF4-FFF2-40B4-BE49-F238E27FC236}">
                <a16:creationId xmlns:a16="http://schemas.microsoft.com/office/drawing/2014/main" id="{E25316C8-0B8D-4577-90B8-4584E00D73AA}"/>
              </a:ext>
            </a:extLst>
          </p:cNvPr>
          <p:cNvSpPr txBox="1"/>
          <p:nvPr/>
        </p:nvSpPr>
        <p:spPr>
          <a:xfrm>
            <a:off x="118061" y="85535"/>
            <a:ext cx="11940912" cy="369332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zh-CN" altLang="en-US" sz="1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三、在持续言语过程中，感觉运动皮层及周边皮层区域展现出了不同的</a:t>
            </a:r>
            <a:r>
              <a:rPr lang="en-US" altLang="zh-CN" sz="1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β</a:t>
            </a:r>
            <a:r>
              <a:rPr lang="zh-CN" altLang="en-US" sz="1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动力学状态</a:t>
            </a:r>
            <a:endParaRPr lang="en-US" altLang="zh-CN" sz="1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81B44D11-D2BA-4355-A21F-C8FBCB8FFECC}"/>
              </a:ext>
            </a:extLst>
          </p:cNvPr>
          <p:cNvSpPr txBox="1"/>
          <p:nvPr/>
        </p:nvSpPr>
        <p:spPr>
          <a:xfrm>
            <a:off x="262771" y="443850"/>
            <a:ext cx="103834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Category A——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言语（维持）状态时，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beta band power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与间歇期差别不大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Category B——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言语（维持）状态时，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beta band power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低于间歇期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speech onset/offset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前出现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ERD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，可反应言语状态改变节点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类电极的分布具备空间皮层特异性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类电极出现的皮层位置可能存在局部高功能连接的特点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24D288E0-2B82-4DE9-9EA6-9A2F2BC08B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57717" y="1512433"/>
            <a:ext cx="4871512" cy="1465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2532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13020</TotalTime>
  <Words>732</Words>
  <Application>Microsoft Office PowerPoint</Application>
  <PresentationFormat>宽屏</PresentationFormat>
  <Paragraphs>54</Paragraphs>
  <Slides>11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8" baseType="lpstr">
      <vt:lpstr>等线</vt:lpstr>
      <vt:lpstr>等线 Light</vt:lpstr>
      <vt:lpstr>微软雅黑</vt:lpstr>
      <vt:lpstr>Arial</vt:lpstr>
      <vt:lpstr>Consolas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RUI LI</dc:creator>
  <cp:lastModifiedBy>RUI LI</cp:lastModifiedBy>
  <cp:revision>77</cp:revision>
  <dcterms:created xsi:type="dcterms:W3CDTF">2026-07-15T09:35:25Z</dcterms:created>
  <dcterms:modified xsi:type="dcterms:W3CDTF">2026-10-05T15:18:26Z</dcterms:modified>
</cp:coreProperties>
</file>